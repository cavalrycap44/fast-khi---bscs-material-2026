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2C3A8C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206240"/>
            <a:ext cx="4572000" cy="4572000"/>
          </a:xfrm>
          <a:prstGeom prst="ellipse">
            <a:avLst/>
          </a:prstGeom>
          <a:solidFill>
            <a:srgbClr val="2C3A8C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CS1002  ·  WEEK 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Programming Fundamentals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34290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· General Problem-Solving Concepts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5074920"/>
            <a:ext cx="2011680" cy="0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5212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Nida Munawar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55595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nida.munawar@nu.edu.pk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of the Course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64328" cy="1463040"/>
          </a:xfrm>
          <a:prstGeom prst="roundRect">
            <a:avLst>
              <a:gd name="adj" fmla="val 5000"/>
            </a:avLst>
          </a:prstGeom>
          <a:solidFill>
            <a:srgbClr val="F5F7FD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031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2039112"/>
            <a:ext cx="431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solid foundation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417320" y="2404872"/>
            <a:ext cx="43127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core programming concepts: variables, control flow, functions, arrays and pointers.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78728" y="1874520"/>
            <a:ext cx="5364328" cy="1463040"/>
          </a:xfrm>
          <a:prstGeom prst="roundRect">
            <a:avLst>
              <a:gd name="adj" fmla="val 5000"/>
            </a:avLst>
          </a:prstGeom>
          <a:solidFill>
            <a:srgbClr val="F5F7FD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07328" y="21031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507328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47408" y="2039112"/>
            <a:ext cx="431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you code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147408" y="2404872"/>
            <a:ext cx="43127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structured problem-solving and algorithmic thinking skills that outlast any one language.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566160"/>
            <a:ext cx="5364328" cy="1463040"/>
          </a:xfrm>
          <a:prstGeom prst="roundRect">
            <a:avLst>
              <a:gd name="adj" fmla="val 5000"/>
            </a:avLst>
          </a:prstGeom>
          <a:solidFill>
            <a:srgbClr val="F5F7FD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7947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3730752"/>
            <a:ext cx="431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correct, working C programs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417320" y="4096512"/>
            <a:ext cx="43127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a problem statement into a compiled, tested C program with confidence.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78728" y="3566160"/>
            <a:ext cx="5364328" cy="1463040"/>
          </a:xfrm>
          <a:prstGeom prst="roundRect">
            <a:avLst>
              <a:gd name="adj" fmla="val 5000"/>
            </a:avLst>
          </a:prstGeom>
          <a:solidFill>
            <a:srgbClr val="F5F7FD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07328" y="37947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507328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47408" y="3730752"/>
            <a:ext cx="431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for the next courses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147408" y="4096512"/>
            <a:ext cx="43127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 the groundwork for Data Structures, OOP, and Software Design &amp; Analysis.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Outline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94415" cy="658368"/>
          </a:xfrm>
          <a:prstGeom prst="roundRect">
            <a:avLst>
              <a:gd name="adj" fmla="val 8333"/>
            </a:avLst>
          </a:prstGeom>
          <a:solidFill>
            <a:srgbClr val="F5F7FD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8308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1-3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34640" y="1892808"/>
            <a:ext cx="0" cy="438912"/>
          </a:xfrm>
          <a:prstGeom prst="line">
            <a:avLst/>
          </a:prstGeom>
          <a:noFill/>
          <a:ln w="12700">
            <a:solidFill>
              <a:srgbClr val="E3E8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63240" y="1783080"/>
            <a:ext cx="83512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solving, algorithms, flowcharts &amp; pseudocode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11094415" cy="658368"/>
          </a:xfrm>
          <a:prstGeom prst="roundRect">
            <a:avLst>
              <a:gd name="adj" fmla="val 8333"/>
            </a:avLst>
          </a:prstGeom>
          <a:solidFill>
            <a:srgbClr val="F5F7FD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56032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4-6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834640" y="2670048"/>
            <a:ext cx="0" cy="438912"/>
          </a:xfrm>
          <a:prstGeom prst="line">
            <a:avLst/>
          </a:prstGeom>
          <a:noFill/>
          <a:ln w="12700">
            <a:solidFill>
              <a:srgbClr val="E3E8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63240" y="2560320"/>
            <a:ext cx="83512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fundamentals: data types, operators, input/output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11094415" cy="658368"/>
          </a:xfrm>
          <a:prstGeom prst="roundRect">
            <a:avLst>
              <a:gd name="adj" fmla="val 8333"/>
            </a:avLst>
          </a:prstGeom>
          <a:solidFill>
            <a:srgbClr val="F5F7FD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33756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7-9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834640" y="3447288"/>
            <a:ext cx="0" cy="438912"/>
          </a:xfrm>
          <a:prstGeom prst="line">
            <a:avLst/>
          </a:prstGeom>
          <a:noFill/>
          <a:ln w="12700">
            <a:solidFill>
              <a:srgbClr val="E3E8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63240" y="3337560"/>
            <a:ext cx="83512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structures: selection &amp; repetition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11094415" cy="658368"/>
          </a:xfrm>
          <a:prstGeom prst="roundRect">
            <a:avLst>
              <a:gd name="adj" fmla="val 8333"/>
            </a:avLst>
          </a:prstGeom>
          <a:solidFill>
            <a:srgbClr val="F5F7FD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11480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10-12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834640" y="4224528"/>
            <a:ext cx="0" cy="438912"/>
          </a:xfrm>
          <a:prstGeom prst="line">
            <a:avLst/>
          </a:prstGeom>
          <a:noFill/>
          <a:ln w="12700">
            <a:solidFill>
              <a:srgbClr val="E3E8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63240" y="4114800"/>
            <a:ext cx="83512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Functions, scope, and recursion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892040"/>
            <a:ext cx="11094415" cy="658368"/>
          </a:xfrm>
          <a:prstGeom prst="roundRect">
            <a:avLst>
              <a:gd name="adj" fmla="val 8333"/>
            </a:avLst>
          </a:prstGeom>
          <a:solidFill>
            <a:srgbClr val="F5F7FD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89204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13-15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834640" y="5001768"/>
            <a:ext cx="0" cy="438912"/>
          </a:xfrm>
          <a:prstGeom prst="line">
            <a:avLst/>
          </a:prstGeom>
          <a:noFill/>
          <a:ln w="12700">
            <a:solidFill>
              <a:srgbClr val="E3E8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63240" y="4892040"/>
            <a:ext cx="83512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Arrays, strings, and an introduction to pointers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669280"/>
            <a:ext cx="11094415" cy="658368"/>
          </a:xfrm>
          <a:prstGeom prst="roundRect">
            <a:avLst>
              <a:gd name="adj" fmla="val 8333"/>
            </a:avLst>
          </a:prstGeom>
          <a:solidFill>
            <a:srgbClr val="F5F7FD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66928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16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834640" y="5779008"/>
            <a:ext cx="0" cy="438912"/>
          </a:xfrm>
          <a:prstGeom prst="line">
            <a:avLst/>
          </a:prstGeom>
          <a:noFill/>
          <a:ln w="12700">
            <a:solidFill>
              <a:srgbClr val="E3E8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63240" y="5669280"/>
            <a:ext cx="83512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project presentations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Textbooks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454298" cy="3566160"/>
          </a:xfrm>
          <a:prstGeom prst="roundRect">
            <a:avLst>
              <a:gd name="adj" fmla="val 211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57400"/>
            <a:ext cx="290565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290565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How to Program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703320"/>
            <a:ext cx="2905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Deitel &amp; H. Deitel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4206240"/>
            <a:ext cx="290565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reference for syntax, examples and end-of-chapter exercises.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68698" y="1828800"/>
            <a:ext cx="3454298" cy="3566160"/>
          </a:xfrm>
          <a:prstGeom prst="roundRect">
            <a:avLst>
              <a:gd name="adj" fmla="val 2118"/>
            </a:avLst>
          </a:prstGeom>
          <a:solidFill>
            <a:srgbClr val="F5F7FD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3018" y="2057400"/>
            <a:ext cx="290565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43018" y="2423160"/>
            <a:ext cx="290565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Solving and Program Design in C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43018" y="3703320"/>
            <a:ext cx="2905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Hanly &amp; E. Koffman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43018" y="4206240"/>
            <a:ext cx="290565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on structured problem-solving before jumping into code.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88757" y="1828800"/>
            <a:ext cx="3454298" cy="3566160"/>
          </a:xfrm>
          <a:prstGeom prst="roundRect">
            <a:avLst>
              <a:gd name="adj" fmla="val 2118"/>
            </a:avLst>
          </a:prstGeom>
          <a:solidFill>
            <a:srgbClr val="F5F7FD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63077" y="2057400"/>
            <a:ext cx="290565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63077" y="2423160"/>
            <a:ext cx="290565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 Programming Language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63077" y="3703320"/>
            <a:ext cx="2905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Kernighan &amp; D. Ritchie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63077" y="4206240"/>
            <a:ext cx="290565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— dense, but worth dipping into for the fundamentals.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Grading Scheme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072579" cy="2103120"/>
          </a:xfrm>
          <a:prstGeom prst="roundRect">
            <a:avLst>
              <a:gd name="adj" fmla="val 3530"/>
            </a:avLst>
          </a:prstGeom>
          <a:solidFill>
            <a:srgbClr val="F5F7FD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331720"/>
            <a:ext cx="207257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207257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Mid-1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804099" y="2103120"/>
            <a:ext cx="2072579" cy="2103120"/>
          </a:xfrm>
          <a:prstGeom prst="roundRect">
            <a:avLst>
              <a:gd name="adj" fmla="val 3530"/>
            </a:avLst>
          </a:prstGeom>
          <a:solidFill>
            <a:srgbClr val="F5F7FD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04099" y="2331720"/>
            <a:ext cx="207257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804099" y="3291840"/>
            <a:ext cx="207257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Mid-2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59558" y="2103120"/>
            <a:ext cx="2072579" cy="2103120"/>
          </a:xfrm>
          <a:prstGeom prst="roundRect">
            <a:avLst>
              <a:gd name="adj" fmla="val 3530"/>
            </a:avLst>
          </a:prstGeom>
          <a:solidFill>
            <a:srgbClr val="F5F7FD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59558" y="2331720"/>
            <a:ext cx="207257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059558" y="3291840"/>
            <a:ext cx="207257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017" y="2103120"/>
            <a:ext cx="2072579" cy="2103120"/>
          </a:xfrm>
          <a:prstGeom prst="roundRect">
            <a:avLst>
              <a:gd name="adj" fmla="val 3530"/>
            </a:avLst>
          </a:prstGeom>
          <a:solidFill>
            <a:srgbClr val="F5F7FD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017" y="2331720"/>
            <a:ext cx="207257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315017" y="3291840"/>
            <a:ext cx="207257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570476" y="2103120"/>
            <a:ext cx="2072579" cy="2103120"/>
          </a:xfrm>
          <a:prstGeom prst="roundRect">
            <a:avLst>
              <a:gd name="adj" fmla="val 353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70476" y="2331720"/>
            <a:ext cx="207257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570476" y="3291840"/>
            <a:ext cx="207257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Exam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44805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100%  —  a passing grade requires consistent effort across quizzes and assignments, not just the final.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CLASS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Classroom Code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3657600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657600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kp72jn3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5029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announcements, slides, and assignments will be posted here.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Communicating with a Computer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a programming language to communicate with a computer. Every language has its own syntax — its own set of rules the computer will accept.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3454298" cy="1325880"/>
          </a:xfrm>
          <a:prstGeom prst="roundRect">
            <a:avLst>
              <a:gd name="adj" fmla="val 5517"/>
            </a:avLst>
          </a:prstGeom>
          <a:solidFill>
            <a:srgbClr val="F5F7FD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69748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0563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633472"/>
            <a:ext cx="28142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Syntax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999232"/>
            <a:ext cx="299709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rules governing how statements in a language must be written.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68698" y="2514600"/>
            <a:ext cx="3454298" cy="1325880"/>
          </a:xfrm>
          <a:prstGeom prst="roundRect">
            <a:avLst>
              <a:gd name="adj" fmla="val 5517"/>
            </a:avLst>
          </a:prstGeom>
          <a:solidFill>
            <a:srgbClr val="F5F7FD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7298" y="269748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8A5A00"/>
          </a:solidFill>
          <a:ln/>
        </p:spPr>
      </p:sp>
      <p:sp>
        <p:nvSpPr>
          <p:cNvPr id="12" name="Text 10"/>
          <p:cNvSpPr/>
          <p:nvPr/>
        </p:nvSpPr>
        <p:spPr>
          <a:xfrm>
            <a:off x="4825898" y="2633472"/>
            <a:ext cx="28142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97298" y="2999232"/>
            <a:ext cx="299709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coding error that causes a program to behave incorrectly.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88757" y="2514600"/>
            <a:ext cx="3454298" cy="1325880"/>
          </a:xfrm>
          <a:prstGeom prst="roundRect">
            <a:avLst>
              <a:gd name="adj" fmla="val 5517"/>
            </a:avLst>
          </a:prstGeom>
          <a:solidFill>
            <a:srgbClr val="F5F7FD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7357" y="269748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E9E6B"/>
          </a:solidFill>
          <a:ln/>
        </p:spPr>
      </p:sp>
      <p:sp>
        <p:nvSpPr>
          <p:cNvPr id="16" name="Text 14"/>
          <p:cNvSpPr/>
          <p:nvPr/>
        </p:nvSpPr>
        <p:spPr>
          <a:xfrm>
            <a:off x="8645957" y="2633472"/>
            <a:ext cx="28142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Debugging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17357" y="2999232"/>
            <a:ext cx="299709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of finding and correcting bugs in a program.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023360"/>
            <a:ext cx="11094415" cy="1280160"/>
          </a:xfrm>
          <a:prstGeom prst="roundRect">
            <a:avLst>
              <a:gd name="adj" fmla="val 4286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160520"/>
            <a:ext cx="1054577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&lt;stdio.h&gt;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main() {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"Hello, C!"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05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</a:t>
            </a:r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9FB0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forget this semicolon = a BUG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286000"/>
            <a:ext cx="6400800" cy="6400800"/>
          </a:xfrm>
          <a:prstGeom prst="ellipse">
            <a:avLst/>
          </a:prstGeom>
          <a:solidFill>
            <a:srgbClr val="2C3A8C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15468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 Problem-Solving Concepts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4160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write a single line of C, we learn how to think like a problem solver.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F5F7FD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74520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A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828800" y="1874520"/>
            <a:ext cx="944849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 in Everyday Life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F5F7FD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26080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A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828800" y="2926080"/>
            <a:ext cx="944849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Problems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F5F7FD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977640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A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828800" y="3977640"/>
            <a:ext cx="944849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 with Computers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502920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F5F7FD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029200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A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828800" y="5029200"/>
            <a:ext cx="944849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Difficulties with Problem Solving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AD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C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31089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Solving in Everyday Life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2C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before code, humans solve problems with the same underlying process.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PROBLEM SOLVING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Six Steps of Problem Solving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1658569" cy="1737360"/>
          </a:xfrm>
          <a:prstGeom prst="roundRect">
            <a:avLst>
              <a:gd name="adj" fmla="val 4411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277977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58368" y="3200400"/>
            <a:ext cx="1439113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207209" y="32918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435809" y="2651760"/>
            <a:ext cx="1658569" cy="1737360"/>
          </a:xfrm>
          <a:prstGeom prst="roundRect">
            <a:avLst>
              <a:gd name="adj" fmla="val 4411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2563825" y="277977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545537" y="3200400"/>
            <a:ext cx="1439113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094378" y="32918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322978" y="2651760"/>
            <a:ext cx="1658569" cy="1737360"/>
          </a:xfrm>
          <a:prstGeom prst="roundRect">
            <a:avLst>
              <a:gd name="adj" fmla="val 4411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450994" y="277977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432706" y="3200400"/>
            <a:ext cx="1439113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981548" y="32918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210148" y="2651760"/>
            <a:ext cx="1658569" cy="1737360"/>
          </a:xfrm>
          <a:prstGeom prst="roundRect">
            <a:avLst>
              <a:gd name="adj" fmla="val 4411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338164" y="277977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19876" y="3200400"/>
            <a:ext cx="1439113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solution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868717" y="32918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097317" y="2651760"/>
            <a:ext cx="1658569" cy="1737360"/>
          </a:xfrm>
          <a:prstGeom prst="roundRect">
            <a:avLst>
              <a:gd name="adj" fmla="val 4411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8225333" y="277977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207045" y="3200400"/>
            <a:ext cx="1439113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step-by-step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755886" y="32918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984486" y="2651760"/>
            <a:ext cx="1658569" cy="1737360"/>
          </a:xfrm>
          <a:prstGeom prst="roundRect">
            <a:avLst>
              <a:gd name="adj" fmla="val 4411"/>
            </a:avLst>
          </a:prstGeom>
          <a:solidFill>
            <a:srgbClr val="1E9E6B"/>
          </a:solidFill>
          <a:ln/>
        </p:spPr>
      </p:sp>
      <p:sp>
        <p:nvSpPr>
          <p:cNvPr id="26" name="Text 24"/>
          <p:cNvSpPr/>
          <p:nvPr/>
        </p:nvSpPr>
        <p:spPr>
          <a:xfrm>
            <a:off x="10112502" y="277977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094214" y="3200400"/>
            <a:ext cx="1439113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470916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repeatable cycle — if evaluation fails at step 6, loop back and revise.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PROBLEM SOLVING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1 &amp; 2 — Identify &amp; Understand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64328" cy="3977640"/>
          </a:xfrm>
          <a:prstGeom prst="roundRect">
            <a:avLst>
              <a:gd name="adj" fmla="val 1839"/>
            </a:avLst>
          </a:prstGeom>
          <a:solidFill>
            <a:srgbClr val="F5F7FD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029968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0299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1984248"/>
            <a:ext cx="440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problem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49808" y="2542032"/>
            <a:ext cx="4952848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don't know what the problem is, you cannot solve it. Sounds obvious — it's the step most people skip.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classroom, problems are usually identified for you (an assignment, a textbook question). Outside the classroom, you must identify the problem yourself before you can start solving it.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program "doesn't work" is not a problem statement. "The average is printed as 0 for every input" is.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78728" y="1828800"/>
            <a:ext cx="5364328" cy="3977640"/>
          </a:xfrm>
          <a:prstGeom prst="roundRect">
            <a:avLst>
              <a:gd name="adj" fmla="val 1839"/>
            </a:avLst>
          </a:prstGeom>
          <a:solidFill>
            <a:srgbClr val="F5F7FD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79896" y="2029968"/>
            <a:ext cx="420624" cy="420624"/>
          </a:xfrm>
          <a:prstGeom prst="ellipse">
            <a:avLst/>
          </a:prstGeom>
          <a:solidFill>
            <a:srgbClr val="2C3A8C"/>
          </a:solidFill>
          <a:ln/>
        </p:spPr>
      </p:sp>
      <p:sp>
        <p:nvSpPr>
          <p:cNvPr id="12" name="Text 10"/>
          <p:cNvSpPr/>
          <p:nvPr/>
        </p:nvSpPr>
        <p:spPr>
          <a:xfrm>
            <a:off x="6479896" y="20299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55968" y="1984248"/>
            <a:ext cx="440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problem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79896" y="2542032"/>
            <a:ext cx="4952848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knowledge base you're working within — for a computer, that's the limited instructions its language understands. You also need your own knowledge base: to solve a calculus problem you must know calculus; to solve an accounting problem you must know accounting.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solution is also tailored to who (or what) will use it — you'd give more detailed directions to someone unfamiliar with your city than to someone who knows it well.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C: know what printf, scanf, and loops can and cannot do before you rely on them.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PROBLEM SOLVING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3, 4 &amp; 5 — Alternatives, Selection, Instructions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454298" cy="3977640"/>
          </a:xfrm>
          <a:prstGeom prst="roundRect">
            <a:avLst>
              <a:gd name="adj" fmla="val 2118"/>
            </a:avLst>
          </a:prstGeom>
          <a:solidFill>
            <a:srgbClr val="F5F7FD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029968"/>
            <a:ext cx="420624" cy="420624"/>
          </a:xfrm>
          <a:prstGeom prst="ellipse">
            <a:avLst/>
          </a:prstGeom>
          <a:solidFill>
            <a:srgbClr val="E0563F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0299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1984248"/>
            <a:ext cx="24941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alternatives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49808" y="2542032"/>
            <a:ext cx="3042818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every acceptable way to solve the problem — as complete a list as possible. Talk to other people to surface options you hadn't considered.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 must be acceptable. Going from Denver to LA via New York is a solution — but not an acceptable one.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68698" y="1828800"/>
            <a:ext cx="3454298" cy="3977640"/>
          </a:xfrm>
          <a:prstGeom prst="roundRect">
            <a:avLst>
              <a:gd name="adj" fmla="val 2118"/>
            </a:avLst>
          </a:prstGeom>
          <a:solidFill>
            <a:srgbClr val="F5F7FD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69866" y="2029968"/>
            <a:ext cx="420624" cy="420624"/>
          </a:xfrm>
          <a:prstGeom prst="ellipse">
            <a:avLst/>
          </a:prstGeom>
          <a:solidFill>
            <a:srgbClr val="8A5A00"/>
          </a:solidFill>
          <a:ln/>
        </p:spPr>
      </p:sp>
      <p:sp>
        <p:nvSpPr>
          <p:cNvPr id="12" name="Text 10"/>
          <p:cNvSpPr/>
          <p:nvPr/>
        </p:nvSpPr>
        <p:spPr>
          <a:xfrm>
            <a:off x="4569866" y="20299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45938" y="1984248"/>
            <a:ext cx="24941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best way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69866" y="2542032"/>
            <a:ext cx="3042818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weigh the pros and cons of each alternative before committing to one. To do this fairly, first choose your evaluation criteria — they become the guidelines for judging every option.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88757" y="1828800"/>
            <a:ext cx="3454298" cy="3977640"/>
          </a:xfrm>
          <a:prstGeom prst="roundRect">
            <a:avLst>
              <a:gd name="adj" fmla="val 2118"/>
            </a:avLst>
          </a:prstGeom>
          <a:solidFill>
            <a:srgbClr val="F5F7FD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89925" y="2029968"/>
            <a:ext cx="420624" cy="420624"/>
          </a:xfrm>
          <a:prstGeom prst="ellipse">
            <a:avLst/>
          </a:prstGeom>
          <a:solidFill>
            <a:srgbClr val="1E9E6B"/>
          </a:solidFill>
          <a:ln/>
        </p:spPr>
      </p:sp>
      <p:sp>
        <p:nvSpPr>
          <p:cNvPr id="17" name="Text 15"/>
          <p:cNvSpPr/>
          <p:nvPr/>
        </p:nvSpPr>
        <p:spPr>
          <a:xfrm>
            <a:off x="8389925" y="20299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965997" y="1984248"/>
            <a:ext cx="24941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instructions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389925" y="2542032"/>
            <a:ext cx="3042818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numbered, step-by-step instructions for the selected solution. Every instruction must fall inside the solver's knowledge base — nothing it can't understand. This is especially limiting when the solver is a computer.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PROBLEM SOLVING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6 — Evaluate the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6766560" cy="3886200"/>
          </a:xfrm>
          <a:prstGeom prst="roundRect">
            <a:avLst>
              <a:gd name="adj" fmla="val 1882"/>
            </a:avLst>
          </a:prstGeom>
          <a:solidFill>
            <a:srgbClr val="F5F7FD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94560"/>
            <a:ext cx="61264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evaluate a solution means to check its result — is it correct, and does it actually satisfy the need? A solution can be correct but still unsatisfactory: if someone needs a piece of furniture to sleep on, buying them a cot may be technically correct, but not very satisfying.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result is wrong or unsatisfactory, the problem solver must review the instructions for errors, or start the process over.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of the six steps was skipped or rushed, the final result usually suffers — evaluation is where that shows up.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80960" y="1920240"/>
            <a:ext cx="3962095" cy="1828800"/>
          </a:xfrm>
          <a:prstGeom prst="roundRect">
            <a:avLst>
              <a:gd name="adj" fmla="val 4000"/>
            </a:avLst>
          </a:prstGeom>
          <a:solidFill>
            <a:srgbClr val="1E9E6B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0" y="1920240"/>
            <a:ext cx="3596335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→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solution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680960" y="3977640"/>
            <a:ext cx="3962095" cy="1828800"/>
          </a:xfrm>
          <a:prstGeom prst="roundRect">
            <a:avLst>
              <a:gd name="adj" fmla="val 4000"/>
            </a:avLst>
          </a:prstGeom>
          <a:solidFill>
            <a:srgbClr val="E0563F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0" y="3977640"/>
            <a:ext cx="3596335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→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step 1 or 5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the following problem: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324612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“Going to Work”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4343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walk all six steps of problem solving against this one everyday scenario.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GOING TO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1 &amp; 2 Applied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410048" cy="2926080"/>
          </a:xfrm>
          <a:prstGeom prst="roundRect">
            <a:avLst>
              <a:gd name="adj" fmla="val 2500"/>
            </a:avLst>
          </a:prstGeom>
          <a:solidFill>
            <a:srgbClr val="F5F7FD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97632" y="228600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2997632" y="22860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907792"/>
            <a:ext cx="522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3273552"/>
            <a:ext cx="5135728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need to be at the office by 9:00 AM.”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58688" y="33375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33008" y="2103120"/>
            <a:ext cx="5410048" cy="2926080"/>
          </a:xfrm>
          <a:prstGeom prst="roundRect">
            <a:avLst>
              <a:gd name="adj" fmla="val 2500"/>
            </a:avLst>
          </a:prstGeom>
          <a:solidFill>
            <a:srgbClr val="F5F7FD"/>
          </a:solidFill>
          <a:ln w="19050">
            <a:solidFill>
              <a:srgbClr val="2C3A8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1999" y="2286000"/>
            <a:ext cx="512064" cy="512064"/>
          </a:xfrm>
          <a:prstGeom prst="ellipse">
            <a:avLst/>
          </a:prstGeom>
          <a:solidFill>
            <a:srgbClr val="2C3A8C"/>
          </a:solidFill>
          <a:ln/>
        </p:spPr>
      </p:sp>
      <p:sp>
        <p:nvSpPr>
          <p:cNvPr id="13" name="Text 11"/>
          <p:cNvSpPr/>
          <p:nvPr/>
        </p:nvSpPr>
        <p:spPr>
          <a:xfrm>
            <a:off x="8681999" y="22860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24448" y="2907792"/>
            <a:ext cx="522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70168" y="3273552"/>
            <a:ext cx="5135728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distance, the traffic patterns, and which transport options actually exist for you.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GOING TO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3 &amp; 4 Applied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410048" cy="2926080"/>
          </a:xfrm>
          <a:prstGeom prst="roundRect">
            <a:avLst>
              <a:gd name="adj" fmla="val 2500"/>
            </a:avLst>
          </a:prstGeom>
          <a:solidFill>
            <a:srgbClr val="F5F7FD"/>
          </a:solidFill>
          <a:ln w="19050">
            <a:solidFill>
              <a:srgbClr val="E056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97632" y="2286000"/>
            <a:ext cx="512064" cy="512064"/>
          </a:xfrm>
          <a:prstGeom prst="ellipse">
            <a:avLst/>
          </a:prstGeom>
          <a:solidFill>
            <a:srgbClr val="E0563F"/>
          </a:solidFill>
          <a:ln/>
        </p:spPr>
      </p:sp>
      <p:sp>
        <p:nvSpPr>
          <p:cNvPr id="7" name="Text 5"/>
          <p:cNvSpPr/>
          <p:nvPr/>
        </p:nvSpPr>
        <p:spPr>
          <a:xfrm>
            <a:off x="2997632" y="22860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907792"/>
            <a:ext cx="522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3273552"/>
            <a:ext cx="5135728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Walk. Drive. Take the bus. Carpool. Ride a bike.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58688" y="33375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33008" y="2103120"/>
            <a:ext cx="5410048" cy="2926080"/>
          </a:xfrm>
          <a:prstGeom prst="roundRect">
            <a:avLst>
              <a:gd name="adj" fmla="val 2500"/>
            </a:avLst>
          </a:prstGeom>
          <a:solidFill>
            <a:srgbClr val="F5F7FD"/>
          </a:solidFill>
          <a:ln w="19050">
            <a:solidFill>
              <a:srgbClr val="8A5A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1999" y="2286000"/>
            <a:ext cx="512064" cy="512064"/>
          </a:xfrm>
          <a:prstGeom prst="ellipse">
            <a:avLst/>
          </a:prstGeom>
          <a:solidFill>
            <a:srgbClr val="8A5A00"/>
          </a:solidFill>
          <a:ln/>
        </p:spPr>
      </p:sp>
      <p:sp>
        <p:nvSpPr>
          <p:cNvPr id="13" name="Text 11"/>
          <p:cNvSpPr/>
          <p:nvPr/>
        </p:nvSpPr>
        <p:spPr>
          <a:xfrm>
            <a:off x="8681999" y="22860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24448" y="2907792"/>
            <a:ext cx="522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best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70168" y="3273552"/>
            <a:ext cx="5135728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is fastest and avoids the rain — chosen using cost, time, and comfort as criteria.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GOING TO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5 &amp; 6 Applied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410048" cy="2926080"/>
          </a:xfrm>
          <a:prstGeom prst="roundRect">
            <a:avLst>
              <a:gd name="adj" fmla="val 2500"/>
            </a:avLst>
          </a:prstGeom>
          <a:solidFill>
            <a:srgbClr val="F5F7FD"/>
          </a:solidFill>
          <a:ln w="19050">
            <a:solidFill>
              <a:srgbClr val="1E9E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97632" y="2286000"/>
            <a:ext cx="512064" cy="512064"/>
          </a:xfrm>
          <a:prstGeom prst="ellipse">
            <a:avLst/>
          </a:prstGeom>
          <a:solidFill>
            <a:srgbClr val="1E9E6B"/>
          </a:solidFill>
          <a:ln/>
        </p:spPr>
      </p:sp>
      <p:sp>
        <p:nvSpPr>
          <p:cNvPr id="7" name="Text 5"/>
          <p:cNvSpPr/>
          <p:nvPr/>
        </p:nvSpPr>
        <p:spPr>
          <a:xfrm>
            <a:off x="2997632" y="22860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907792"/>
            <a:ext cx="522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3273552"/>
            <a:ext cx="5135728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Start car  2) Take Main St  3) Merge onto Highway 5  4) Exit at 3rd Ave  5) Park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58688" y="33375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33008" y="2103120"/>
            <a:ext cx="5410048" cy="2926080"/>
          </a:xfrm>
          <a:prstGeom prst="roundRect">
            <a:avLst>
              <a:gd name="adj" fmla="val 2500"/>
            </a:avLst>
          </a:prstGeom>
          <a:solidFill>
            <a:srgbClr val="F5F7FD"/>
          </a:solidFill>
          <a:ln w="19050">
            <a:solidFill>
              <a:srgbClr val="1E9E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1999" y="2286000"/>
            <a:ext cx="512064" cy="512064"/>
          </a:xfrm>
          <a:prstGeom prst="ellipse">
            <a:avLst/>
          </a:prstGeom>
          <a:solidFill>
            <a:srgbClr val="1E9E6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1999" y="22860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24448" y="2907792"/>
            <a:ext cx="522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70168" y="3273552"/>
            <a:ext cx="5135728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Arrived at 8:55 AM — solution works. If late, revise the route (back to step 3).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Problems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18608" cy="3566160"/>
          </a:xfrm>
          <a:prstGeom prst="roundRect">
            <a:avLst>
              <a:gd name="adj" fmla="val 2051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3120"/>
            <a:ext cx="476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47699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fixed, repeatable set of steps always leads to the answer.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47699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balancing a checkbook, sorting a list of numbers, computing an average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4480560"/>
            <a:ext cx="47699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world C programs live in — deterministic, testable, repeatable.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24448" y="1874520"/>
            <a:ext cx="5318608" cy="3566160"/>
          </a:xfrm>
          <a:prstGeom prst="roundRect">
            <a:avLst>
              <a:gd name="adj" fmla="val 2051"/>
            </a:avLst>
          </a:prstGeom>
          <a:solidFill>
            <a:srgbClr val="F5F7FD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98768" y="2103120"/>
            <a:ext cx="476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5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98768" y="2468880"/>
            <a:ext cx="47699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set of steps guarantees the answer — reasoning, experience, and trial and error are required.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98768" y="3337560"/>
            <a:ext cx="47699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picking the best stock to buy, deciding whether to expand a business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98768" y="4480560"/>
            <a:ext cx="47699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struggle here unless helped along by AI / machine learning.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PROBLEMS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Problems with Algorithmic Solutions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finite number of steps, performed in order (and sometimes repeated), that reach a solution. Balancing a check book is a classic example — a fixed procedure gets you the answer every time.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1094415" cy="1965960"/>
          </a:xfrm>
          <a:prstGeom prst="roundRect">
            <a:avLst>
              <a:gd name="adj" fmla="val 2791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743200"/>
            <a:ext cx="10637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example — a real algorithmic problem, ready for next week's syntax: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3108960"/>
            <a:ext cx="10637215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 = 500.0;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 = balance - withdrawal + deposit;
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(balance &lt; 0)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("Overdrawn!\n");   </a:t>
            </a:r>
            <a:pPr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9FB0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same fixed steps, every time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PROBLEMS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Algorithm: Buying a Pen at the Market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242784" cy="1234440"/>
          </a:xfrm>
          <a:prstGeom prst="ellipse">
            <a:avLst/>
          </a:prstGeom>
          <a:solidFill>
            <a:srgbClr val="5B6B8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286000"/>
            <a:ext cx="105990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791424" y="2702052"/>
            <a:ext cx="164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56016" y="2286000"/>
            <a:ext cx="1242784" cy="1234440"/>
          </a:xfrm>
          <a:prstGeom prst="roundRect">
            <a:avLst>
              <a:gd name="adj" fmla="val 4444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2047456" y="2286000"/>
            <a:ext cx="105990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money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wallet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198800" y="2702052"/>
            <a:ext cx="164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63392" y="2286000"/>
            <a:ext cx="1242784" cy="1234440"/>
          </a:xfrm>
          <a:prstGeom prst="roundRect">
            <a:avLst>
              <a:gd name="adj" fmla="val 4444"/>
            </a:avLst>
          </a:prstGeom>
          <a:solidFill>
            <a:srgbClr val="2C3A8C"/>
          </a:solidFill>
          <a:ln/>
        </p:spPr>
      </p:sp>
      <p:sp>
        <p:nvSpPr>
          <p:cNvPr id="12" name="Text 10"/>
          <p:cNvSpPr/>
          <p:nvPr/>
        </p:nvSpPr>
        <p:spPr>
          <a:xfrm>
            <a:off x="3454832" y="2286000"/>
            <a:ext cx="105990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to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06176" y="2702052"/>
            <a:ext cx="164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70768" y="2286000"/>
            <a:ext cx="1242784" cy="1234440"/>
          </a:xfrm>
          <a:prstGeom prst="roundRect">
            <a:avLst>
              <a:gd name="adj" fmla="val 4444"/>
            </a:avLst>
          </a:prstGeom>
          <a:solidFill>
            <a:srgbClr val="2C3A8C"/>
          </a:solidFill>
          <a:ln/>
        </p:spPr>
      </p:sp>
      <p:sp>
        <p:nvSpPr>
          <p:cNvPr id="15" name="Text 13"/>
          <p:cNvSpPr/>
          <p:nvPr/>
        </p:nvSpPr>
        <p:spPr>
          <a:xfrm>
            <a:off x="4862208" y="2286000"/>
            <a:ext cx="105990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shop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pens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013552" y="2702052"/>
            <a:ext cx="164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8144" y="2286000"/>
            <a:ext cx="1242784" cy="1234440"/>
          </a:xfrm>
          <a:prstGeom prst="roundRect">
            <a:avLst>
              <a:gd name="adj" fmla="val 4444"/>
            </a:avLst>
          </a:prstGeom>
          <a:solidFill>
            <a:srgbClr val="2C3A8C"/>
          </a:solidFill>
          <a:ln/>
        </p:spPr>
      </p:sp>
      <p:sp>
        <p:nvSpPr>
          <p:cNvPr id="18" name="Text 16"/>
          <p:cNvSpPr/>
          <p:nvPr/>
        </p:nvSpPr>
        <p:spPr>
          <a:xfrm>
            <a:off x="6269584" y="2286000"/>
            <a:ext cx="105990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the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shopkeeper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420928" y="2702052"/>
            <a:ext cx="164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585520" y="2286000"/>
            <a:ext cx="1242784" cy="1234440"/>
          </a:xfrm>
          <a:prstGeom prst="roundRect">
            <a:avLst>
              <a:gd name="adj" fmla="val 4444"/>
            </a:avLst>
          </a:prstGeom>
          <a:solidFill>
            <a:srgbClr val="2C3A8C"/>
          </a:solidFill>
          <a:ln/>
        </p:spPr>
      </p:sp>
      <p:sp>
        <p:nvSpPr>
          <p:cNvPr id="21" name="Text 19"/>
          <p:cNvSpPr/>
          <p:nvPr/>
        </p:nvSpPr>
        <p:spPr>
          <a:xfrm>
            <a:off x="7676960" y="2286000"/>
            <a:ext cx="105990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pen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receipt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828303" y="2702052"/>
            <a:ext cx="164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992895" y="2286000"/>
            <a:ext cx="1242784" cy="1234440"/>
          </a:xfrm>
          <a:prstGeom prst="roundRect">
            <a:avLst>
              <a:gd name="adj" fmla="val 4444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9084335" y="2286000"/>
            <a:ext cx="105990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235679" y="2702052"/>
            <a:ext cx="164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0400271" y="2286000"/>
            <a:ext cx="1242784" cy="1234440"/>
          </a:xfrm>
          <a:prstGeom prst="ellipse">
            <a:avLst/>
          </a:prstGeom>
          <a:solidFill>
            <a:srgbClr val="1E9E6B"/>
          </a:solidFill>
          <a:ln/>
        </p:spPr>
      </p:sp>
      <p:sp>
        <p:nvSpPr>
          <p:cNvPr id="27" name="Text 25"/>
          <p:cNvSpPr/>
          <p:nvPr/>
        </p:nvSpPr>
        <p:spPr>
          <a:xfrm>
            <a:off x="10491711" y="2286000"/>
            <a:ext cx="105990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379476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“Walk to the market” is itself a complete task — it could be expanded into its own separate algorithm (which route? which mode of transport?).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PROBLEMS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Problems with Heuristic Solutions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that cannot be reached through a direct set of steps are heuristic. They require reasoning built on knowledge and experience, and a process of trial and error.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5364328" cy="2880360"/>
          </a:xfrm>
          <a:prstGeom prst="roundRect">
            <a:avLst>
              <a:gd name="adj" fmla="val 2540"/>
            </a:avLst>
          </a:prstGeom>
          <a:solidFill>
            <a:srgbClr val="F5F7FD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971800"/>
            <a:ext cx="4815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stock to buy?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474720"/>
            <a:ext cx="481568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formula guarantees the best pick — analysts weigh trends, risk, and judgment built from experience.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78728" y="2743200"/>
            <a:ext cx="5364328" cy="2880360"/>
          </a:xfrm>
          <a:prstGeom prst="roundRect">
            <a:avLst>
              <a:gd name="adj" fmla="val 2540"/>
            </a:avLst>
          </a:prstGeom>
          <a:solidFill>
            <a:srgbClr val="F5F7FD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53048" y="2971800"/>
            <a:ext cx="4815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the company expand?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53048" y="3474720"/>
            <a:ext cx="481568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single instruction set — leadership reasons through markets, cost, and risk, then decides.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PROBLEMS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Heuristic Example — The Number Triangle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 the numbers 1–5 on the triangle so the sum along each side is equal.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926080" y="2423160"/>
            <a:ext cx="-1828800" cy="173736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26080" y="2423160"/>
            <a:ext cx="1828800" cy="173736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4160520"/>
            <a:ext cx="365760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70048" y="2167128"/>
            <a:ext cx="512064" cy="512064"/>
          </a:xfrm>
          <a:prstGeom prst="ellipse">
            <a:avLst/>
          </a:prstGeom>
          <a:solidFill>
            <a:srgbClr val="F2A9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70048" y="21671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618488" y="3035808"/>
            <a:ext cx="512064" cy="512064"/>
          </a:xfrm>
          <a:prstGeom prst="ellipse">
            <a:avLst/>
          </a:prstGeom>
          <a:solidFill>
            <a:srgbClr val="F2A9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18488" y="3035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41248" y="3904488"/>
            <a:ext cx="512064" cy="512064"/>
          </a:xfrm>
          <a:prstGeom prst="ellipse">
            <a:avLst/>
          </a:prstGeom>
          <a:solidFill>
            <a:srgbClr val="F2A9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9044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498848" y="3904488"/>
            <a:ext cx="512064" cy="512064"/>
          </a:xfrm>
          <a:prstGeom prst="ellipse">
            <a:avLst/>
          </a:prstGeom>
          <a:solidFill>
            <a:srgbClr val="F2A9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98848" y="39044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721608" y="3035808"/>
            <a:ext cx="512064" cy="512064"/>
          </a:xfrm>
          <a:prstGeom prst="ellipse">
            <a:avLst/>
          </a:prstGeom>
          <a:solidFill>
            <a:srgbClr val="F2A9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21608" y="3035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45262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(place remaining numbers on the midpoints of each side)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0" y="1691640"/>
            <a:ext cx="5973775" cy="1600200"/>
          </a:xfrm>
          <a:prstGeom prst="roundRect">
            <a:avLst>
              <a:gd name="adj" fmla="val 3429"/>
            </a:avLst>
          </a:prstGeom>
          <a:solidFill>
            <a:srgbClr val="F5F7FD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97880" y="1828800"/>
            <a:ext cx="5516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guess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97880" y="2148840"/>
            <a:ext cx="55165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5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1+2+4 = 7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05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= 3+2+5 = 10   →   not equal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669280" y="3520440"/>
            <a:ext cx="5973775" cy="1600200"/>
          </a:xfrm>
          <a:prstGeom prst="roundRect">
            <a:avLst>
              <a:gd name="adj" fmla="val 3429"/>
            </a:avLst>
          </a:prstGeom>
          <a:solidFill>
            <a:srgbClr val="F5F7FD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3657600"/>
            <a:ext cx="5516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guess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897880" y="3977640"/>
            <a:ext cx="55165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9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1+3+5 = 9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9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= 2+3+4 = 9   →   equal! ✓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Solving with Computers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15258" cy="3108960"/>
          </a:xfrm>
          <a:prstGeom prst="roundRect">
            <a:avLst>
              <a:gd name="adj" fmla="val 2353"/>
            </a:avLst>
          </a:prstGeom>
          <a:solidFill>
            <a:srgbClr val="F5F7FD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50237" y="228600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2050237" y="22860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907792"/>
            <a:ext cx="33323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3273552"/>
            <a:ext cx="3240938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given to the computer to work with.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063898" y="3429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38218" y="2103120"/>
            <a:ext cx="3515258" cy="3108960"/>
          </a:xfrm>
          <a:prstGeom prst="roundRect">
            <a:avLst>
              <a:gd name="adj" fmla="val 2353"/>
            </a:avLst>
          </a:prstGeom>
          <a:solidFill>
            <a:srgbClr val="F5F7FD"/>
          </a:solidFill>
          <a:ln w="19050">
            <a:solidFill>
              <a:srgbClr val="8A5A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39816" y="2286000"/>
            <a:ext cx="512064" cy="512064"/>
          </a:xfrm>
          <a:prstGeom prst="ellipse">
            <a:avLst/>
          </a:prstGeom>
          <a:solidFill>
            <a:srgbClr val="8A5A00"/>
          </a:solidFill>
          <a:ln/>
        </p:spPr>
      </p:sp>
      <p:sp>
        <p:nvSpPr>
          <p:cNvPr id="13" name="Text 11"/>
          <p:cNvSpPr/>
          <p:nvPr/>
        </p:nvSpPr>
        <p:spPr>
          <a:xfrm>
            <a:off x="5839816" y="22860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29658" y="2907792"/>
            <a:ext cx="33323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475378" y="3273552"/>
            <a:ext cx="3240938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 of instructions — the solution, coded into a language such as C.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853477" y="3429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27797" y="2103120"/>
            <a:ext cx="3515258" cy="3108960"/>
          </a:xfrm>
          <a:prstGeom prst="roundRect">
            <a:avLst>
              <a:gd name="adj" fmla="val 2353"/>
            </a:avLst>
          </a:prstGeom>
          <a:solidFill>
            <a:srgbClr val="F5F7FD"/>
          </a:solidFill>
          <a:ln w="19050">
            <a:solidFill>
              <a:srgbClr val="1E9E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29394" y="2286000"/>
            <a:ext cx="512064" cy="512064"/>
          </a:xfrm>
          <a:prstGeom prst="ellipse">
            <a:avLst/>
          </a:prstGeom>
          <a:solidFill>
            <a:srgbClr val="1E9E6B"/>
          </a:solidFill>
          <a:ln/>
        </p:spPr>
      </p:sp>
      <p:sp>
        <p:nvSpPr>
          <p:cNvPr id="19" name="Text 17"/>
          <p:cNvSpPr/>
          <p:nvPr/>
        </p:nvSpPr>
        <p:spPr>
          <a:xfrm>
            <a:off x="9629394" y="22860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19237" y="2907792"/>
            <a:ext cx="33323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64957" y="3273552"/>
            <a:ext cx="3240938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 or completed, computer-assisted answer.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Computers &amp; the Two Kinds of Problems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64328" cy="2194560"/>
          </a:xfrm>
          <a:prstGeom prst="roundRect">
            <a:avLst>
              <a:gd name="adj" fmla="val 3333"/>
            </a:avLst>
          </a:prstGeom>
          <a:solidFill>
            <a:srgbClr val="F5F7FD"/>
          </a:solidFill>
          <a:ln w="19050">
            <a:solidFill>
              <a:srgbClr val="1E9E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11680"/>
            <a:ext cx="4907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ALGORITHMIC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49071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calculating the monthly salary for every employee — fixed formula, applied consistently, every time.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8728" y="1828800"/>
            <a:ext cx="5364328" cy="2194560"/>
          </a:xfrm>
          <a:prstGeom prst="roundRect">
            <a:avLst>
              <a:gd name="adj" fmla="val 3333"/>
            </a:avLst>
          </a:prstGeom>
          <a:solidFill>
            <a:srgbClr val="F5F7FD"/>
          </a:solidFill>
          <a:ln w="19050">
            <a:solidFill>
              <a:srgbClr val="E056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07328" y="2011680"/>
            <a:ext cx="4907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05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SO GOOD FOR: HEURISTIC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507328" y="2377440"/>
            <a:ext cx="49071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how to throw a ball, or how to speak English — no fixed procedure captures it.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206240"/>
            <a:ext cx="11094415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206240"/>
            <a:ext cx="1054577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lets a computer build its own knowledge base and handle heuristic tasks — like understanding and speaking a human language — that plain algorithms can't.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Difficulties in Problem Solving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64328" cy="1463040"/>
          </a:xfrm>
          <a:prstGeom prst="roundRect">
            <a:avLst>
              <a:gd name="adj" fmla="val 5000"/>
            </a:avLst>
          </a:prstGeom>
          <a:solidFill>
            <a:srgbClr val="F5F7FD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0574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0563F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965960"/>
            <a:ext cx="4632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training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49071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having practiced structured problem solving before.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78728" y="1828800"/>
            <a:ext cx="5364328" cy="1463040"/>
          </a:xfrm>
          <a:prstGeom prst="roundRect">
            <a:avLst>
              <a:gd name="adj" fmla="val 5000"/>
            </a:avLst>
          </a:prstGeom>
          <a:solidFill>
            <a:srgbClr val="F5F7FD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0574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0563F"/>
          </a:solidFill>
          <a:ln/>
        </p:spPr>
      </p:sp>
      <p:sp>
        <p:nvSpPr>
          <p:cNvPr id="11" name="Text 9"/>
          <p:cNvSpPr/>
          <p:nvPr/>
        </p:nvSpPr>
        <p:spPr>
          <a:xfrm>
            <a:off x="6781648" y="1965960"/>
            <a:ext cx="4632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Afraid to make decisions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507328" y="2423160"/>
            <a:ext cx="49071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Hesitating at step 4 — selecting the best alternative — for fear of choosing wrong.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5364328" cy="1463040"/>
          </a:xfrm>
          <a:prstGeom prst="roundRect">
            <a:avLst>
              <a:gd name="adj" fmla="val 5000"/>
            </a:avLst>
          </a:prstGeom>
          <a:solidFill>
            <a:srgbClr val="F5F7FD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74904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0563F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657600"/>
            <a:ext cx="4632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problem definition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77240" y="4114800"/>
            <a:ext cx="49071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the wrong problem because step 1 was rushed or misread.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78728" y="3520440"/>
            <a:ext cx="5364328" cy="1463040"/>
          </a:xfrm>
          <a:prstGeom prst="roundRect">
            <a:avLst>
              <a:gd name="adj" fmla="val 5000"/>
            </a:avLst>
          </a:prstGeom>
          <a:solidFill>
            <a:srgbClr val="F5F7FD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374904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0563F"/>
          </a:solidFill>
          <a:ln/>
        </p:spPr>
      </p:sp>
      <p:sp>
        <p:nvSpPr>
          <p:cNvPr id="19" name="Text 17"/>
          <p:cNvSpPr/>
          <p:nvPr/>
        </p:nvSpPr>
        <p:spPr>
          <a:xfrm>
            <a:off x="6781648" y="3657600"/>
            <a:ext cx="4632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Inadequate algorithm steps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507328" y="4114800"/>
            <a:ext cx="49071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that skip a case or assume something the solver doesn't actually know.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52578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 is not easy — it takes practice and time to perfect. Every exercise this semester is that practice.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EXERCISE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of these three numbers is the largest?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anyone can immediately tell which is the largest — but far fewer can explain, step by step, how they arrived at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566160"/>
            <a:ext cx="11094415" cy="1645920"/>
          </a:xfrm>
          <a:prstGeom prst="roundRect">
            <a:avLst>
              <a:gd name="adj" fmla="val 4444"/>
            </a:avLst>
          </a:prstGeom>
          <a:solidFill>
            <a:srgbClr val="2C3A8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566160"/>
            <a:ext cx="10454335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out, in numbered steps, the algorithm you use to find the largest of three numbers a, b, c. Then compare your steps with a classmate's — are they identical?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2026-08-15T10:16:09Z</dcterms:created>
  <dcterms:modified xsi:type="dcterms:W3CDTF">2026-08-15T10:16:09Z</dcterms:modified>
</cp:coreProperties>
</file>